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6B35"/>
                </a:solidFill>
              </a:defRPr>
            </a:pPr>
            <a:r>
              <a:t>PIZZA FACTORY</a:t>
            </a:r>
          </a:p>
          <a:p>
            <a:pPr>
              <a:spcBef>
                <a:spcPts val="1000"/>
              </a:spcBef>
              <a:defRPr sz="2800">
                <a:solidFill>
                  <a:srgbClr val="FFFFFF"/>
                </a:solidFill>
              </a:defRPr>
            </a:pPr>
            <a:r>
              <a:t>Sales &amp; Operations SQL Analytics Dashboard</a:t>
            </a:r>
          </a:p>
          <a:p>
            <a:pPr>
              <a:spcBef>
                <a:spcPts val="3000"/>
              </a:spcBef>
              <a:defRPr sz="1600">
                <a:solidFill>
                  <a:srgbClr val="ABAEB7"/>
                </a:solidFill>
              </a:defRPr>
            </a:pPr>
            <a:r>
              <a:t>Comprehensive SQL Project Case Study for Portfolio &amp; GitHub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35"/>
                </a:solidFill>
              </a:defRPr>
            </a:pPr>
            <a:r>
              <a:t>Database Schema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468880" cy="4114800"/>
          </a:xfrm>
          <a:prstGeom prst="roundRect">
            <a:avLst/>
          </a:prstGeom>
          <a:solidFill>
            <a:srgbClr val="1F1F29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800" b="1">
                <a:solidFill>
                  <a:srgbClr val="FFB800"/>
                </a:solidFill>
              </a:defRPr>
            </a:pPr>
            <a:r>
              <a:t>📋 pizza_types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• pizza_type_id (PK)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• name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• category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• ingredients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468880" cy="4114800"/>
          </a:xfrm>
          <a:prstGeom prst="roundRect">
            <a:avLst/>
          </a:prstGeom>
          <a:solidFill>
            <a:srgbClr val="1F1F29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800" b="1">
                <a:solidFill>
                  <a:srgbClr val="FFB800"/>
                </a:solidFill>
              </a:defRPr>
            </a:pPr>
            <a:r>
              <a:t>📋 pizzas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• pizza_id (PK)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• pizza_type_id (FK)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• size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• price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2468880" cy="4114800"/>
          </a:xfrm>
          <a:prstGeom prst="roundRect">
            <a:avLst/>
          </a:prstGeom>
          <a:solidFill>
            <a:srgbClr val="1F1F29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800" b="1">
                <a:solidFill>
                  <a:srgbClr val="FFB800"/>
                </a:solidFill>
              </a:defRPr>
            </a:pPr>
            <a:r>
              <a:t>📋 orders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• order_id (PK)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• date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•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645920"/>
            <a:ext cx="2468880" cy="4114800"/>
          </a:xfrm>
          <a:prstGeom prst="roundRect">
            <a:avLst/>
          </a:prstGeom>
          <a:solidFill>
            <a:srgbClr val="1F1F29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800" b="1">
                <a:solidFill>
                  <a:srgbClr val="FFB800"/>
                </a:solidFill>
              </a:defRPr>
            </a:pPr>
            <a:r>
              <a:t>📋 order_details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• order_details_id (PK)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• order_id (FK)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• pizza_id (FK)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• quantity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35"/>
                </a:solidFill>
              </a:defRPr>
            </a:pPr>
            <a:r>
              <a:t>Core Business KPIs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383280" cy="2103120"/>
          </a:xfrm>
          <a:prstGeom prst="roundRect">
            <a:avLst/>
          </a:prstGeom>
          <a:solidFill>
            <a:srgbClr val="1F1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ABAEB7"/>
                </a:solidFill>
              </a:defRPr>
            </a:pPr>
            <a:r>
              <a:t>Total Revenue</a:t>
            </a:r>
          </a:p>
          <a:p>
            <a:pPr>
              <a:spcBef>
                <a:spcPts val="800"/>
              </a:spcBef>
              <a:defRPr sz="1300">
                <a:solidFill>
                  <a:srgbClr val="FFB800"/>
                </a:solidFill>
              </a:defRPr>
            </a:pPr>
            <a:r>
              <a:t>ROUND(SUM(qty * price))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</a:defRPr>
            </a:pPr>
            <a:r>
              <a:t>📊 Financial Growth Indicator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383280" cy="2103120"/>
          </a:xfrm>
          <a:prstGeom prst="roundRect">
            <a:avLst/>
          </a:prstGeom>
          <a:solidFill>
            <a:srgbClr val="1F1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ABAEB7"/>
                </a:solidFill>
              </a:defRPr>
            </a:pPr>
            <a:r>
              <a:t>Average Order Value</a:t>
            </a:r>
          </a:p>
          <a:p>
            <a:pPr>
              <a:spcBef>
                <a:spcPts val="800"/>
              </a:spcBef>
              <a:defRPr sz="1300">
                <a:solidFill>
                  <a:srgbClr val="FFB800"/>
                </a:solidFill>
              </a:defRPr>
            </a:pPr>
            <a:r>
              <a:t>SUM(sales) / COUNT(orders)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</a:defRPr>
            </a:pPr>
            <a:r>
              <a:t>📈 Cart Value Efficiency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645920"/>
            <a:ext cx="3383280" cy="2103120"/>
          </a:xfrm>
          <a:prstGeom prst="roundRect">
            <a:avLst/>
          </a:prstGeom>
          <a:solidFill>
            <a:srgbClr val="1F1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ABAEB7"/>
                </a:solidFill>
              </a:defRPr>
            </a:pPr>
            <a:r>
              <a:t>Total Pizzas Sold</a:t>
            </a:r>
          </a:p>
          <a:p>
            <a:pPr>
              <a:spcBef>
                <a:spcPts val="800"/>
              </a:spcBef>
              <a:defRPr sz="1300">
                <a:solidFill>
                  <a:srgbClr val="FFB800"/>
                </a:solidFill>
              </a:defRPr>
            </a:pPr>
            <a:r>
              <a:t>SUM(quantity)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</a:defRPr>
            </a:pPr>
            <a:r>
              <a:t>🍕 Product Volume Metric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206240"/>
            <a:ext cx="3383280" cy="2103120"/>
          </a:xfrm>
          <a:prstGeom prst="roundRect">
            <a:avLst/>
          </a:prstGeom>
          <a:solidFill>
            <a:srgbClr val="1F1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ABAEB7"/>
                </a:solidFill>
              </a:defRPr>
            </a:pPr>
            <a:r>
              <a:t>Total Orders</a:t>
            </a:r>
          </a:p>
          <a:p>
            <a:pPr>
              <a:spcBef>
                <a:spcPts val="800"/>
              </a:spcBef>
              <a:defRPr sz="1300">
                <a:solidFill>
                  <a:srgbClr val="FFB800"/>
                </a:solidFill>
              </a:defRPr>
            </a:pPr>
            <a:r>
              <a:t>COUNT(DISTINCT order_id)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</a:defRPr>
            </a:pPr>
            <a:r>
              <a:t>🛍️ Customer Traffic Metric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206240"/>
            <a:ext cx="3383280" cy="2103120"/>
          </a:xfrm>
          <a:prstGeom prst="roundRect">
            <a:avLst/>
          </a:prstGeom>
          <a:solidFill>
            <a:srgbClr val="1F1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ABAEB7"/>
                </a:solidFill>
              </a:defRPr>
            </a:pPr>
            <a:r>
              <a:t>Avg Pizzas Per Order</a:t>
            </a:r>
          </a:p>
          <a:p>
            <a:pPr>
              <a:spcBef>
                <a:spcPts val="800"/>
              </a:spcBef>
              <a:defRPr sz="1300">
                <a:solidFill>
                  <a:srgbClr val="FFB800"/>
                </a:solidFill>
              </a:defRPr>
            </a:pPr>
            <a:r>
              <a:t>SUM(qty) / COUNT(orders)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</a:defRPr>
            </a:pPr>
            <a:r>
              <a:t>🍽️ Order Size Distribution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35"/>
                </a:solidFill>
              </a:defRPr>
            </a:pPr>
            <a:r>
              <a:t>Sales Distribution &amp; Trend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F1F29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FFB800"/>
                </a:solidFill>
              </a:defRPr>
            </a:pPr>
            <a:r>
              <a:t>🍕 Percentage of Sales by Category</a:t>
            </a:r>
          </a:p>
          <a:p>
            <a:br/>
            <a:pPr>
              <a:defRPr sz="1400">
                <a:solidFill>
                  <a:srgbClr val="FF6B35"/>
                </a:solidFill>
              </a:defRPr>
            </a:pPr>
            <a:r>
              <a:t>Classic</a:t>
            </a:r>
            <a:br/>
            <a:r>
              <a:t>██████████ 30%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Supreme</a:t>
            </a:r>
            <a:br/>
            <a:r>
              <a:t>████████ 25%</a:t>
            </a:r>
          </a:p>
          <a:p>
            <a:br/>
            <a:pPr>
              <a:defRPr sz="1400">
                <a:solidFill>
                  <a:srgbClr val="ABAEB7"/>
                </a:solidFill>
              </a:defRPr>
            </a:pPr>
            <a:r>
              <a:t>Veggie</a:t>
            </a:r>
            <a:br/>
            <a:r>
              <a:t>███████ 22%</a:t>
            </a:r>
          </a:p>
          <a:p>
            <a:br/>
            <a:pPr>
              <a:defRPr sz="1400">
                <a:solidFill>
                  <a:srgbClr val="FFB800"/>
                </a:solidFill>
              </a:defRPr>
            </a:pPr>
            <a:r>
              <a:t>Chicken</a:t>
            </a:r>
            <a:br/>
            <a:r>
              <a:t>██████ 23%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1F1F29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FFB800"/>
                </a:solidFill>
              </a:defRPr>
            </a:pPr>
            <a:r>
              <a:t>📐 Percentage of Sales by Pizza Size</a:t>
            </a:r>
          </a:p>
          <a:p>
            <a:br/>
            <a:pPr>
              <a:defRPr sz="1400">
                <a:solidFill>
                  <a:srgbClr val="FF6B35"/>
                </a:solidFill>
              </a:defRPr>
            </a:pPr>
            <a:r>
              <a:t>Large (L)</a:t>
            </a:r>
            <a:br/>
            <a:r>
              <a:t>████████████ 45%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Medium (M)</a:t>
            </a:r>
            <a:br/>
            <a:r>
              <a:t>████████ 30%</a:t>
            </a:r>
          </a:p>
          <a:p>
            <a:br/>
            <a:pPr>
              <a:defRPr sz="1400">
                <a:solidFill>
                  <a:srgbClr val="ABAEB7"/>
                </a:solidFill>
              </a:defRPr>
            </a:pPr>
            <a:r>
              <a:t>Small (S)</a:t>
            </a:r>
            <a:br/>
            <a:r>
              <a:t>██████ 20%</a:t>
            </a:r>
          </a:p>
          <a:p>
            <a:br/>
            <a:pPr>
              <a:defRPr sz="1400">
                <a:solidFill>
                  <a:srgbClr val="FFB800"/>
                </a:solidFill>
              </a:defRPr>
            </a:pPr>
            <a:r>
              <a:t>X-Large (XL)</a:t>
            </a:r>
            <a:br/>
            <a:r>
              <a:t>█ 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35"/>
                </a:solidFill>
              </a:defRPr>
            </a:pPr>
            <a:r>
              <a:t>Top vs Bottom Analysis (Advanced SQL Insights)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F1F29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FFB800"/>
                </a:solidFill>
              </a:defRPr>
            </a:pPr>
            <a:r>
              <a:t>🏆 Top 5 Performing Pizzas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1. Revenue Drivers: High-priced premium tier pizzas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2. Order Volume: Mass appeal classic categories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3. Quantity Sold: Large sizes contributing heavily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4. Query Engine: Optimized via DESC LIMIT 5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5. Business Value: Key focus items for marketing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F1F29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FFB800"/>
                </a:solidFill>
              </a:defRPr>
            </a:pPr>
            <a:r>
              <a:t>⚠️ Bottom 5 Underperforming Pizzas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1. Revenue Laggards: Rare ingredients / niche base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2. Low Orders: XL or custom sizes with less demand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3. Operational Cost: High overhead, low sales volume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4. Query Engine: Monitored via ASC LIMIT 5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5. Business Action: Review pricing strategy or discontinue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35"/>
                </a:solidFill>
              </a:defRPr>
            </a:pPr>
            <a:r>
              <a:t>Technical Competencies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800"/>
              </a:spcBef>
            </a:pPr>
            <a:r>
              <a:rPr b="1" sz="1600">
                <a:solidFill>
                  <a:srgbClr val="FFB800"/>
                </a:solidFill>
              </a:rPr>
              <a:t>⚡ Advanced Relational Joins:</a:t>
            </a:r>
            <a:r>
              <a:rPr sz="1600">
                <a:solidFill>
                  <a:srgbClr val="FFFFFF"/>
                </a:solidFill>
              </a:rPr>
              <a:t> Seamlessly connecting transaction tables (`order_details`) with master configurations (`pizzas`, `pizza_types`).</a:t>
            </a:r>
          </a:p>
          <a:p>
            <a:pPr>
              <a:spcBef>
                <a:spcPts val="1800"/>
              </a:spcBef>
            </a:pPr>
            <a:r>
              <a:rPr b="1" sz="1600">
                <a:solidFill>
                  <a:srgbClr val="FFB800"/>
                </a:solidFill>
              </a:rPr>
              <a:t>📊 Data Aggregation &amp; Analytical Functions:</a:t>
            </a:r>
            <a:r>
              <a:rPr sz="1600">
                <a:solidFill>
                  <a:srgbClr val="FFFFFF"/>
                </a:solidFill>
              </a:rPr>
              <a:t> Using complex `SUM()`, `COUNT(DISTINCT)`, and `ROUND()` functions to compute exact revenue metrics.</a:t>
            </a:r>
          </a:p>
          <a:p>
            <a:pPr>
              <a:spcBef>
                <a:spcPts val="1800"/>
              </a:spcBef>
            </a:pPr>
            <a:r>
              <a:rPr b="1" sz="1600">
                <a:solidFill>
                  <a:srgbClr val="FFB800"/>
                </a:solidFill>
              </a:rPr>
              <a:t>📅 Time-Series Analysis:</a:t>
            </a:r>
            <a:r>
              <a:rPr sz="1600">
                <a:solidFill>
                  <a:srgbClr val="FFFFFF"/>
                </a:solidFill>
              </a:rPr>
              <a:t> Parsing date attributes using `DAYNAME()`, `MONTHNAME()`, and sorting logically via `DAYOFWEEK()` parameters.</a:t>
            </a:r>
          </a:p>
          <a:p>
            <a:pPr>
              <a:spcBef>
                <a:spcPts val="1800"/>
              </a:spcBef>
            </a:pPr>
            <a:r>
              <a:rPr b="1" sz="1600">
                <a:solidFill>
                  <a:srgbClr val="FFB800"/>
                </a:solidFill>
              </a:rPr>
              <a:t>📐 Multi-layered Subqueries:</a:t>
            </a:r>
            <a:r>
              <a:rPr sz="1600">
                <a:solidFill>
                  <a:srgbClr val="FFFFFF"/>
                </a:solidFill>
              </a:rPr>
              <a:t> Injecting deep inline mathematical calculation blocks to determine exact percentage contributions accurately.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